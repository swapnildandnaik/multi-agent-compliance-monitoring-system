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Agentic AI – Multi-Agent Compliance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Meridian Compliance Intelligence Platform (MCIP)</a:t>
            </a:r>
          </a:p>
          <a:p>
            <a:pPr>
              <a:spcAft>
                <a:spcPts val="1000"/>
              </a:spcAft>
              <a:defRPr sz="1800"/>
            </a:pPr>
            <a:r>
              <a:t>College / Internship Project</a:t>
            </a:r>
          </a:p>
          <a:p>
            <a:pPr>
              <a:spcAft>
                <a:spcPts val="1000"/>
              </a:spcAft>
              <a:defRPr sz="1800"/>
            </a:pPr>
            <a:r>
              <a:t>15-Day Architecture &amp;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High-volume transactions and communications</a:t>
            </a:r>
          </a:p>
          <a:p>
            <a:pPr>
              <a:spcAft>
                <a:spcPts val="1000"/>
              </a:spcAft>
              <a:defRPr sz="1800"/>
            </a:pPr>
            <a:r>
              <a:t>Multiple jurisdictions and changing regulatory requirements</a:t>
            </a:r>
          </a:p>
          <a:p>
            <a:pPr>
              <a:spcAft>
                <a:spcPts val="1000"/>
              </a:spcAft>
              <a:defRPr sz="1800"/>
            </a:pPr>
            <a:r>
              <a:t>Manual monitoring creates latency, silos and false-positive burden</a:t>
            </a:r>
          </a:p>
          <a:p>
            <a:pPr>
              <a:spcAft>
                <a:spcPts val="1000"/>
              </a:spcAft>
              <a:defRPr sz="1800"/>
            </a:pPr>
            <a:r>
              <a:t>Need explainable, auditable and scalable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Hierarchical multi-agent architecture</a:t>
            </a:r>
          </a:p>
          <a:p>
            <a:pPr>
              <a:spcAft>
                <a:spcPts val="1000"/>
              </a:spcAft>
              <a:defRPr sz="1800"/>
            </a:pPr>
            <a:r>
              <a:t>Event-driven inter-agent communication</a:t>
            </a:r>
          </a:p>
          <a:p>
            <a:pPr>
              <a:spcAft>
                <a:spcPts val="1000"/>
              </a:spcAft>
              <a:defRPr sz="1800"/>
            </a:pPr>
            <a:r>
              <a:t>Consensus + conflict resolution</a:t>
            </a:r>
          </a:p>
          <a:p>
            <a:pPr>
              <a:spcAft>
                <a:spcPts val="1000"/>
              </a:spcAft>
              <a:defRPr sz="1800"/>
            </a:pPr>
            <a:r>
              <a:t>Human-in-the-loop escalation</a:t>
            </a:r>
          </a:p>
          <a:p>
            <a:pPr>
              <a:spcAft>
                <a:spcPts val="1000"/>
              </a:spcAft>
              <a:defRPr sz="1800"/>
            </a:pPr>
            <a:r>
              <a:t>Audit-grade observability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Four Primary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TM – Transaction Monitor</a:t>
            </a:r>
          </a:p>
          <a:p>
            <a:pPr>
              <a:spcAft>
                <a:spcPts val="1000"/>
              </a:spcAft>
              <a:defRPr sz="1800"/>
            </a:pPr>
            <a:r>
              <a:t>CS – Communication Scanner</a:t>
            </a:r>
          </a:p>
          <a:p>
            <a:pPr>
              <a:spcAft>
                <a:spcPts val="1000"/>
              </a:spcAft>
              <a:defRPr sz="1800"/>
            </a:pPr>
            <a:r>
              <a:t>RU – Regulatory Update Tracker</a:t>
            </a:r>
          </a:p>
          <a:p>
            <a:pPr>
              <a:spcAft>
                <a:spcPts val="1000"/>
              </a:spcAft>
              <a:defRPr sz="1800"/>
            </a:pPr>
            <a:r>
              <a:t>RG – Report Generator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Sources → Event Bus → Orchestrator → Specialist Agents</a:t>
            </a:r>
          </a:p>
          <a:p>
            <a:pPr>
              <a:spcAft>
                <a:spcPts val="1000"/>
              </a:spcAft>
              <a:defRPr sz="1800"/>
            </a:pPr>
            <a:r>
              <a:t>Agents → Consensus → Human Escalation → Reporting</a:t>
            </a:r>
          </a:p>
          <a:p>
            <a:pPr>
              <a:spcAft>
                <a:spcPts val="1000"/>
              </a:spcAft>
              <a:defRPr sz="1800"/>
            </a:pPr>
            <a:r>
              <a:t>Audit service records every significant transition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Transaction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Pattern, threshold, temporal and counterparty analysis</a:t>
            </a:r>
          </a:p>
          <a:p>
            <a:pPr>
              <a:spcAft>
                <a:spcPts val="1000"/>
              </a:spcAft>
              <a:defRPr sz="1800"/>
            </a:pPr>
            <a:r>
              <a:t>Cross-market surveillance</a:t>
            </a:r>
          </a:p>
          <a:p>
            <a:pPr>
              <a:spcAft>
                <a:spcPts val="1000"/>
              </a:spcAft>
              <a:defRPr sz="1800"/>
            </a:pPr>
            <a:r>
              <a:t>Calibrated confidence scores</a:t>
            </a:r>
          </a:p>
          <a:p>
            <a:pPr>
              <a:spcAft>
                <a:spcPts val="1000"/>
              </a:spcAft>
              <a:defRPr sz="1800"/>
            </a:pPr>
            <a:r>
              <a:t>No autonomous trading halt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Communication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Keyword and intent detection</a:t>
            </a:r>
          </a:p>
          <a:p>
            <a:pPr>
              <a:spcAft>
                <a:spcPts val="1000"/>
              </a:spcAft>
              <a:defRPr sz="1800"/>
            </a:pPr>
            <a:r>
              <a:t>Information-barrier monitoring</a:t>
            </a:r>
          </a:p>
          <a:p>
            <a:pPr>
              <a:spcAft>
                <a:spcPts val="1000"/>
              </a:spcAft>
              <a:defRPr sz="1800"/>
            </a:pPr>
            <a:r>
              <a:t>Record-keeping compliance</a:t>
            </a:r>
          </a:p>
          <a:p>
            <a:pPr>
              <a:spcAft>
                <a:spcPts val="1000"/>
              </a:spcAft>
              <a:defRPr sz="1800"/>
            </a:pPr>
            <a:r>
              <a:t>Privacy and privilege-aware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Regulatory Update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Official-feed monitoring</a:t>
            </a:r>
          </a:p>
          <a:p>
            <a:pPr>
              <a:spcAft>
                <a:spcPts val="1000"/>
              </a:spcAft>
              <a:defRPr sz="1800"/>
            </a:pPr>
            <a:r>
              <a:t>Impact assessment and deadline extraction</a:t>
            </a:r>
          </a:p>
          <a:p>
            <a:pPr>
              <a:spcAft>
                <a:spcPts val="1000"/>
              </a:spcAft>
              <a:defRPr sz="1800"/>
            </a:pPr>
            <a:r>
              <a:t>Cross-jurisdiction conflict detection</a:t>
            </a:r>
          </a:p>
          <a:p>
            <a:pPr>
              <a:spcAft>
                <a:spcPts val="1000"/>
              </a:spcAft>
              <a:defRPr sz="1800"/>
            </a:pPr>
            <a:r>
              <a:t>Human validation before rule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Report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Scheduled and event-triggered reports</a:t>
            </a:r>
          </a:p>
          <a:p>
            <a:pPr>
              <a:spcAft>
                <a:spcPts val="1000"/>
              </a:spcAft>
              <a:defRPr sz="1800"/>
            </a:pPr>
            <a:r>
              <a:t>Multi-audience adaptation</a:t>
            </a:r>
          </a:p>
          <a:p>
            <a:pPr>
              <a:spcAft>
                <a:spcPts val="1000"/>
              </a:spcAft>
              <a:defRPr sz="1800"/>
            </a:pPr>
            <a:r>
              <a:t>Evidence compilation</a:t>
            </a:r>
          </a:p>
          <a:p>
            <a:pPr>
              <a:spcAft>
                <a:spcPts val="1000"/>
              </a:spcAft>
              <a:defRPr sz="1800"/>
            </a:pPr>
            <a:r>
              <a:t>Human authorization and dual sign-off for filing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Inter-Agent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ALERT / QUERY / RESPONSE / UPDATE / HEARTBEAT / ESCALATION</a:t>
            </a:r>
          </a:p>
          <a:p>
            <a:pPr>
              <a:spcAft>
                <a:spcPts val="1000"/>
              </a:spcAft>
              <a:defRPr sz="1800"/>
            </a:pPr>
            <a:r>
              <a:t>Priority 1–5</a:t>
            </a:r>
          </a:p>
          <a:p>
            <a:pPr>
              <a:spcAft>
                <a:spcPts val="1000"/>
              </a:spcAft>
              <a:defRPr sz="1800"/>
            </a:pPr>
            <a:r>
              <a:t>Trace ID + correlation ID</a:t>
            </a:r>
          </a:p>
          <a:p>
            <a:pPr>
              <a:spcAft>
                <a:spcPts val="1000"/>
              </a:spcAft>
              <a:defRPr sz="1800"/>
            </a:pPr>
            <a:r>
              <a:t>TTL, retries, signatures and nonce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Consensus &amp; Conflict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Weighted evidence aggregation</a:t>
            </a:r>
          </a:p>
          <a:p>
            <a:pPr>
              <a:spcAft>
                <a:spcPts val="1000"/>
              </a:spcAft>
              <a:defRPr sz="1800"/>
            </a:pPr>
            <a:r>
              <a:t>Bayesian-style posterior update</a:t>
            </a:r>
          </a:p>
          <a:p>
            <a:pPr>
              <a:spcAft>
                <a:spcPts val="1000"/>
              </a:spcAft>
              <a:defRPr sz="1800"/>
            </a:pPr>
            <a:r>
              <a:t>Hard-control overrides</a:t>
            </a:r>
          </a:p>
          <a:p>
            <a:pPr>
              <a:spcAft>
                <a:spcPts val="1000"/>
              </a:spcAft>
              <a:defRPr sz="1800"/>
            </a:pPr>
            <a:r>
              <a:t>Deterministic tie-breaks</a:t>
            </a:r>
          </a:p>
          <a:p>
            <a:pPr>
              <a:spcAft>
                <a:spcPts val="1000"/>
              </a:spcAft>
              <a:defRPr sz="1800"/>
            </a:pPr>
            <a:r>
              <a:t>Unresolved conflicts → human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Analyst → Senior Analyst → Manager → Director/CCO</a:t>
            </a:r>
          </a:p>
          <a:p>
            <a:pPr>
              <a:spcAft>
                <a:spcPts val="1000"/>
              </a:spcAft>
              <a:defRPr sz="1800"/>
            </a:pPr>
            <a:r>
              <a:t>Critical, legal, sanctions and unresolved-conflict triggers</a:t>
            </a:r>
          </a:p>
          <a:p>
            <a:pPr>
              <a:spcAft>
                <a:spcPts val="1000"/>
              </a:spcAft>
              <a:defRPr sz="1800"/>
            </a:pPr>
            <a:r>
              <a:t>Human overrides require authorization and rationale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Security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mTLS, encryption and least privilege</a:t>
            </a:r>
          </a:p>
          <a:p>
            <a:pPr>
              <a:spcAft>
                <a:spcPts val="1000"/>
              </a:spcAft>
              <a:defRPr sz="1800"/>
            </a:pPr>
            <a:r>
              <a:t>Signed messages and replay prevention</a:t>
            </a:r>
          </a:p>
          <a:p>
            <a:pPr>
              <a:spcAft>
                <a:spcPts val="1000"/>
              </a:spcAft>
              <a:defRPr sz="1800"/>
            </a:pPr>
            <a:r>
              <a:t>PII minimization</a:t>
            </a:r>
          </a:p>
          <a:p>
            <a:pPr>
              <a:spcAft>
                <a:spcPts val="1000"/>
              </a:spcAft>
              <a:defRPr sz="1800"/>
            </a:pPr>
            <a:r>
              <a:t>Hash-chained audit records</a:t>
            </a:r>
          </a:p>
          <a:p>
            <a:pPr>
              <a:spcAft>
                <a:spcPts val="1000"/>
              </a:spcAft>
              <a:defRPr sz="1800"/>
            </a:pPr>
            <a:r>
              <a:t>Immutable/WORM storage for regulatory records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Observability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System Health</a:t>
            </a:r>
          </a:p>
          <a:p>
            <a:pPr>
              <a:spcAft>
                <a:spcPts val="1000"/>
              </a:spcAft>
              <a:defRPr sz="1800"/>
            </a:pPr>
            <a:r>
              <a:t>Compliance Effectiveness</a:t>
            </a:r>
          </a:p>
          <a:p>
            <a:pPr>
              <a:spcAft>
                <a:spcPts val="1000"/>
              </a:spcAft>
              <a:defRPr sz="1800"/>
            </a:pPr>
            <a:r>
              <a:t>Operational Intelligence</a:t>
            </a:r>
          </a:p>
          <a:p>
            <a:pPr>
              <a:spcAft>
                <a:spcPts val="1000"/>
              </a:spcAft>
              <a:defRPr sz="1800"/>
            </a:pPr>
            <a:r>
              <a:t>Latency, false positives, detection rate, escalation and conflict metrics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 Scenario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CS-01 to CS-20</a:t>
            </a:r>
          </a:p>
          <a:p>
            <a:pPr>
              <a:spcAft>
                <a:spcPts val="1000"/>
              </a:spcAft>
              <a:defRPr sz="1800"/>
            </a:pPr>
            <a:r>
              <a:t>Covers market abuse, AML, communications, privacy, regulatory change and cross-jurisdiction cases</a:t>
            </a:r>
          </a:p>
          <a:p>
            <a:pPr>
              <a:spcAft>
                <a:spcPts val="1000"/>
              </a:spcAft>
              <a:defRPr sz="1800"/>
            </a:pPr>
            <a:r>
              <a:t>CS-18: suppress legitimate block-trade false positive</a:t>
            </a:r>
          </a:p>
          <a:p>
            <a:pPr>
              <a:spcAft>
                <a:spcPts val="1000"/>
              </a:spcAft>
              <a:defRPr sz="1800"/>
            </a:pPr>
            <a:r>
              <a:t>CS-20: all four agents coordinate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Scalability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Reference scale: 2.4M daily transactions + 850K communications</a:t>
            </a:r>
          </a:p>
          <a:p>
            <a:pPr>
              <a:spcAft>
                <a:spcPts val="1000"/>
              </a:spcAft>
              <a:defRPr sz="1800"/>
            </a:pPr>
            <a:r>
              <a:t>Partitioned event streams and horizontal workers</a:t>
            </a:r>
          </a:p>
          <a:p>
            <a:pPr>
              <a:spcAft>
                <a:spcPts val="1000"/>
              </a:spcAft>
              <a:defRPr sz="1800"/>
            </a:pPr>
            <a:r>
              <a:t>Unit, integration, failure and scenario testing</a:t>
            </a:r>
          </a:p>
          <a:p>
            <a:pPr>
              <a:spcAft>
                <a:spcPts val="1000"/>
              </a:spcAft>
              <a:defRPr sz="1800"/>
            </a:pPr>
            <a:r>
              <a:t>Production capacity requires load testing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Faster detection</a:t>
            </a:r>
          </a:p>
          <a:p>
            <a:pPr>
              <a:spcAft>
                <a:spcPts val="1000"/>
              </a:spcAft>
              <a:defRPr sz="1800"/>
            </a:pPr>
            <a:r>
              <a:t>Specialized analysis</a:t>
            </a:r>
          </a:p>
          <a:p>
            <a:pPr>
              <a:spcAft>
                <a:spcPts val="1000"/>
              </a:spcAft>
              <a:defRPr sz="1800"/>
            </a:pPr>
            <a:r>
              <a:t>Cross-domain evidence correlation</a:t>
            </a:r>
          </a:p>
          <a:p>
            <a:pPr>
              <a:spcAft>
                <a:spcPts val="1000"/>
              </a:spcAft>
              <a:defRPr sz="1800"/>
            </a:pPr>
            <a:r>
              <a:t>Reduced avoidable false positives</a:t>
            </a:r>
          </a:p>
          <a:p>
            <a:pPr>
              <a:spcAft>
                <a:spcPts val="1000"/>
              </a:spcAft>
              <a:defRPr sz="1800"/>
            </a:pPr>
            <a:r>
              <a:t>Traceable human accountability</a:t>
            </a:r>
          </a:p>
          <a:p>
            <a:pPr>
              <a:spcAft>
                <a:spcPts val="1000"/>
              </a:spcAft>
              <a:defRPr sz="1800"/>
            </a:pPr>
            <a:r>
              <a:t>Audit-ready reconstruction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6070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MCIP provides an implementation-ready blueprint for Agentic AI compliance monitoring</a:t>
            </a:r>
          </a:p>
          <a:p>
            <a:pPr>
              <a:spcAft>
                <a:spcPts val="1000"/>
              </a:spcAft>
              <a:defRPr sz="1800"/>
            </a:pPr>
            <a:r>
              <a:t>Balances automation, scalability, explainability, security and human oversight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